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Raleway Thin"/>
      <p:regular r:id="rId18"/>
      <p:bold r:id="rId19"/>
      <p:italic r:id="rId20"/>
      <p:boldItalic r:id="rId21"/>
    </p:embeddedFont>
    <p:embeddedFont>
      <p:font typeface="Barlow Light"/>
      <p:regular r:id="rId22"/>
      <p:bold r:id="rId23"/>
      <p:italic r:id="rId24"/>
      <p:boldItalic r:id="rId25"/>
    </p:embeddedFont>
    <p:embeddedFont>
      <p:font typeface="Barlow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Thin-italic.fntdata"/><Relationship Id="rId22" Type="http://schemas.openxmlformats.org/officeDocument/2006/relationships/font" Target="fonts/BarlowLight-regular.fntdata"/><Relationship Id="rId21" Type="http://schemas.openxmlformats.org/officeDocument/2006/relationships/font" Target="fonts/RalewayThin-boldItalic.fntdata"/><Relationship Id="rId24" Type="http://schemas.openxmlformats.org/officeDocument/2006/relationships/font" Target="fonts/BarlowLight-italic.fntdata"/><Relationship Id="rId23" Type="http://schemas.openxmlformats.org/officeDocument/2006/relationships/font" Target="fonts/BarlowL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-regular.fntdata"/><Relationship Id="rId25" Type="http://schemas.openxmlformats.org/officeDocument/2006/relationships/font" Target="fonts/BarlowLight-boldItalic.fntdata"/><Relationship Id="rId28" Type="http://schemas.openxmlformats.org/officeDocument/2006/relationships/font" Target="fonts/Barlow-italic.fntdata"/><Relationship Id="rId27" Type="http://schemas.openxmlformats.org/officeDocument/2006/relationships/font" Target="fonts/Barlow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RalewayThin-bold.fntdata"/><Relationship Id="rId18" Type="http://schemas.openxmlformats.org/officeDocument/2006/relationships/font" Target="fonts/RalewayThi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3455216ff_1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d3455216f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3455216ff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d3455216f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3455216ff_1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d3455216ff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3455216ff_1_7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3455216ff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3455216ff_1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d3455216ff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5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indent="-4318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indent="-4318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indent="-4318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indent="-4318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indent="-4318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indent="-4318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8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1" i="0" lang="en" sz="8600" u="none" cap="none" strike="noStrike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i="0" sz="8600" u="none" cap="none" strike="noStrike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9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0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3.jpg"/><Relationship Id="rId5" Type="http://schemas.openxmlformats.org/officeDocument/2006/relationships/image" Target="../media/image1.png"/><Relationship Id="rId6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idx="4294967295" type="title"/>
          </p:nvPr>
        </p:nvSpPr>
        <p:spPr>
          <a:xfrm>
            <a:off x="2290193" y="1807794"/>
            <a:ext cx="4563600" cy="15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" sz="4600"/>
              <a:t>MagicHands</a:t>
            </a:r>
            <a:br>
              <a:rPr b="1" lang="en" sz="4600"/>
            </a:br>
            <a:r>
              <a:rPr b="1" lang="en" sz="4600"/>
              <a:t>IoT</a:t>
            </a:r>
            <a:endParaRPr b="1" sz="4900"/>
          </a:p>
        </p:txBody>
      </p:sp>
      <p:sp>
        <p:nvSpPr>
          <p:cNvPr id="61" name="Google Shape;61;p11"/>
          <p:cNvSpPr txBox="1"/>
          <p:nvPr/>
        </p:nvSpPr>
        <p:spPr>
          <a:xfrm>
            <a:off x="3332250" y="4106843"/>
            <a:ext cx="2479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Roland Gjopalaj</a:t>
            </a:r>
            <a:endParaRPr b="0" i="0" sz="1400" u="none" cap="none" strike="noStrike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/>
        </p:nvSpPr>
        <p:spPr>
          <a:xfrm>
            <a:off x="1006375" y="1664950"/>
            <a:ext cx="4560600" cy="23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" sz="28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Idea: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Controllo musicale contactless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Autenticazione Biometrica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</a:pP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Uso dei (</a:t>
            </a: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contagio</a:t>
            </a:r>
            <a:r>
              <a:rPr lang="en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 di dita alzate)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grpSp>
        <p:nvGrpSpPr>
          <p:cNvPr id="67" name="Google Shape;67;p12"/>
          <p:cNvGrpSpPr/>
          <p:nvPr/>
        </p:nvGrpSpPr>
        <p:grpSpPr>
          <a:xfrm>
            <a:off x="5873281" y="1769526"/>
            <a:ext cx="2706354" cy="1604434"/>
            <a:chOff x="6986665" y="3298709"/>
            <a:chExt cx="1817809" cy="1077669"/>
          </a:xfrm>
        </p:grpSpPr>
        <p:sp>
          <p:nvSpPr>
            <p:cNvPr id="68" name="Google Shape;68;p12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2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2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2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2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2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12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2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2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2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2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2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2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2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2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2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title"/>
          </p:nvPr>
        </p:nvSpPr>
        <p:spPr>
          <a:xfrm>
            <a:off x="630200" y="614675"/>
            <a:ext cx="2848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2700">
                <a:latin typeface="Raleway"/>
                <a:ea typeface="Raleway"/>
                <a:cs typeface="Raleway"/>
                <a:sym typeface="Raleway"/>
              </a:rPr>
              <a:t>Architettura IoT</a:t>
            </a:r>
            <a:endParaRPr b="1" sz="27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502250" y="1490625"/>
            <a:ext cx="77085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Barlow Light"/>
              <a:buChar char="▸"/>
            </a:pPr>
            <a:r>
              <a:rPr lang="en"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Paradigma </a:t>
            </a:r>
            <a:r>
              <a:rPr b="1" i="1" lang="en" sz="24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Sense-Infer-Act</a:t>
            </a:r>
            <a:endParaRPr b="1" i="1" sz="2400" u="none" cap="none" strike="noStrike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83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Barlow Light"/>
              <a:buChar char="▸"/>
            </a:pPr>
            <a:r>
              <a:rPr lang="en"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Edge-computing puro (oggi)</a:t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630200" y="3746000"/>
            <a:ext cx="77085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Barlow Light"/>
              <a:buChar char="▸"/>
            </a:pPr>
            <a:r>
              <a:rPr lang="en"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Fog layer: Gateway locale riceve eventi tramite MQTT</a:t>
            </a:r>
            <a:endParaRPr b="1" i="1" sz="240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Barlow Light"/>
              <a:buChar char="▸"/>
            </a:pPr>
            <a:r>
              <a:rPr lang="en"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Dashboard</a:t>
            </a:r>
            <a:endParaRPr sz="24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01" name="Google Shape;101;p13"/>
          <p:cNvSpPr txBox="1"/>
          <p:nvPr>
            <p:ph type="title"/>
          </p:nvPr>
        </p:nvSpPr>
        <p:spPr>
          <a:xfrm>
            <a:off x="630200" y="3181663"/>
            <a:ext cx="2848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700">
                <a:latin typeface="Raleway"/>
                <a:ea typeface="Raleway"/>
                <a:cs typeface="Raleway"/>
                <a:sym typeface="Raleway"/>
              </a:rPr>
              <a:t>Evoluzione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idx="4294967295" type="ctrTitle"/>
          </p:nvPr>
        </p:nvSpPr>
        <p:spPr>
          <a:xfrm>
            <a:off x="444190" y="345932"/>
            <a:ext cx="4538700" cy="9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</a:pPr>
            <a:r>
              <a:rPr b="1" lang="en"/>
              <a:t>Hardware</a:t>
            </a:r>
            <a:endParaRPr b="1" i="0" sz="4800" u="none" cap="none" strike="noStrike">
              <a:solidFill>
                <a:schemeClr val="accent2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sp>
        <p:nvSpPr>
          <p:cNvPr id="107" name="Google Shape;107;p14"/>
          <p:cNvSpPr txBox="1"/>
          <p:nvPr>
            <p:ph idx="4294967295" type="subTitle"/>
          </p:nvPr>
        </p:nvSpPr>
        <p:spPr>
          <a:xfrm>
            <a:off x="444200" y="1118275"/>
            <a:ext cx="4948500" cy="15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</a:pPr>
            <a:r>
              <a:rPr lang="en"/>
              <a:t>Minimo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Raspberry pi 4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Modulo webcam</a:t>
            </a:r>
            <a:endParaRPr/>
          </a:p>
          <a:p>
            <a:pPr indent="-3429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Resistenza + Led  (GPIO 26)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44200" y="3496925"/>
            <a:ext cx="51948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Barlow Light"/>
              <a:buChar char="▸"/>
            </a:pPr>
            <a:r>
              <a:rPr lang="en"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Webcam: (2 config diversi)</a:t>
            </a:r>
            <a:endParaRPr b="1" i="1" sz="240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Barlow Light"/>
              <a:buChar char="▸"/>
            </a:pPr>
            <a:r>
              <a:rPr lang="en"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Pin: Numerazione BCM (pinout)</a:t>
            </a:r>
            <a:endParaRPr sz="24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109" name="Google Shape;109;p14"/>
          <p:cNvSpPr txBox="1"/>
          <p:nvPr>
            <p:ph idx="4294967295" type="title"/>
          </p:nvPr>
        </p:nvSpPr>
        <p:spPr>
          <a:xfrm>
            <a:off x="444200" y="2932588"/>
            <a:ext cx="28488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700">
                <a:latin typeface="Raleway"/>
                <a:ea typeface="Raleway"/>
                <a:cs typeface="Raleway"/>
                <a:sym typeface="Raleway"/>
              </a:rPr>
              <a:t>Configurazioni</a:t>
            </a:r>
            <a:endParaRPr sz="27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1400" y="152400"/>
            <a:ext cx="3135478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0826" y="627775"/>
            <a:ext cx="1362351" cy="14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0600" y="2413250"/>
            <a:ext cx="1622300" cy="91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7000" y="2799575"/>
            <a:ext cx="1127426" cy="112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/>
        </p:nvSpPr>
        <p:spPr>
          <a:xfrm>
            <a:off x="900700" y="2074950"/>
            <a:ext cx="23427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" sz="28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Pipeline</a:t>
            </a:r>
            <a:br>
              <a:rPr b="1" lang="en" sz="28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28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Software</a:t>
            </a:r>
            <a:endParaRPr b="0" i="0" sz="2000" u="none" cap="none" strike="noStrik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400" y="0"/>
            <a:ext cx="470261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630200" y="614675"/>
            <a:ext cx="46095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2700">
                <a:latin typeface="Raleway"/>
                <a:ea typeface="Raleway"/>
                <a:cs typeface="Raleway"/>
                <a:sym typeface="Raleway"/>
              </a:rPr>
              <a:t>Rilevazione dei Gesti</a:t>
            </a:r>
            <a:endParaRPr b="1" sz="27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200" y="1754275"/>
            <a:ext cx="8599575" cy="29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630200" y="614675"/>
            <a:ext cx="46095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lang="en" sz="2700">
                <a:latin typeface="Raleway"/>
                <a:ea typeface="Raleway"/>
                <a:cs typeface="Raleway"/>
                <a:sym typeface="Raleway"/>
              </a:rPr>
              <a:t>Rilevazione dei Gesti</a:t>
            </a:r>
            <a:endParaRPr b="1" sz="27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726" y="1367000"/>
            <a:ext cx="7186550" cy="355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457200" y="676075"/>
            <a:ext cx="58278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Raleway"/>
                <a:ea typeface="Raleway"/>
                <a:cs typeface="Raleway"/>
                <a:sym typeface="Raleway"/>
              </a:rPr>
              <a:t>Docker &amp; Distribuzione</a:t>
            </a:r>
            <a:endParaRPr b="1" sz="3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7" name="Google Shape;137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18"/>
          <p:cNvSpPr txBox="1"/>
          <p:nvPr>
            <p:ph idx="4294967295" type="subTitle"/>
          </p:nvPr>
        </p:nvSpPr>
        <p:spPr>
          <a:xfrm>
            <a:off x="457200" y="1235700"/>
            <a:ext cx="5604600" cy="3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arlow Light"/>
              <a:buChar char="▸"/>
            </a:pPr>
            <a:r>
              <a:rPr lang="en" sz="2200"/>
              <a:t>Evoluzione naturale</a:t>
            </a:r>
            <a:endParaRPr sz="22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55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▸"/>
            </a:pPr>
            <a:r>
              <a:rPr lang="en" sz="2200"/>
              <a:t>Problema con le dipendenze</a:t>
            </a:r>
            <a:endParaRPr sz="2200"/>
          </a:p>
          <a:p>
            <a:pPr indent="-3556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b="1" i="1" lang="en" sz="22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face_recognition&lt;dlib&lt;cmake</a:t>
            </a:r>
            <a:r>
              <a:rPr lang="en" sz="2200"/>
              <a:t>, ecc</a:t>
            </a:r>
            <a:endParaRPr sz="2200"/>
          </a:p>
          <a:p>
            <a:pPr indent="-355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▸"/>
            </a:pPr>
            <a:r>
              <a:rPr lang="en" sz="2200"/>
              <a:t>Tutto in un pacchetto riproducibile</a:t>
            </a:r>
            <a:endParaRPr sz="22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-355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▸"/>
            </a:pPr>
            <a:r>
              <a:rPr lang="en" sz="2200"/>
              <a:t>Problema GPIO</a:t>
            </a:r>
            <a:endParaRPr sz="2200"/>
          </a:p>
          <a:p>
            <a:pPr indent="-3556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" sz="2200"/>
              <a:t>Mount </a:t>
            </a:r>
            <a:r>
              <a:rPr b="1" lang="en" sz="22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/dev/gpiomem</a:t>
            </a:r>
            <a:endParaRPr b="1" sz="220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1" marL="914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▹"/>
            </a:pPr>
            <a:r>
              <a:rPr lang="en" sz="2200"/>
              <a:t>Flag: </a:t>
            </a:r>
            <a:r>
              <a:rPr b="1" i="1" lang="en" sz="22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privileged = true</a:t>
            </a:r>
            <a:endParaRPr b="1" i="1" sz="220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idx="4294967295" type="title"/>
          </p:nvPr>
        </p:nvSpPr>
        <p:spPr>
          <a:xfrm>
            <a:off x="2290193" y="1807794"/>
            <a:ext cx="4563600" cy="15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en" sz="4600"/>
              <a:t>Fine!</a:t>
            </a:r>
            <a:endParaRPr b="1" sz="4900"/>
          </a:p>
        </p:txBody>
      </p:sp>
      <p:sp>
        <p:nvSpPr>
          <p:cNvPr id="144" name="Google Shape;144;p19"/>
          <p:cNvSpPr txBox="1"/>
          <p:nvPr/>
        </p:nvSpPr>
        <p:spPr>
          <a:xfrm>
            <a:off x="3332250" y="4106843"/>
            <a:ext cx="2479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Roland Gjopalaj</a:t>
            </a:r>
            <a:endParaRPr b="0" i="0" sz="1400" u="none" cap="none" strike="noStrike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